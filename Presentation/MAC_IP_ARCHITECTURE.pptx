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9" r:id="rId2"/>
    <p:sldId id="256" r:id="rId3"/>
    <p:sldId id="257" r:id="rId4"/>
    <p:sldId id="258" r:id="rId5"/>
    <p:sldId id="259" r:id="rId6"/>
    <p:sldId id="260" r:id="rId7"/>
    <p:sldId id="261" r:id="rId8"/>
    <p:sldId id="280" r:id="rId9"/>
    <p:sldId id="28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52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34640" y="91440"/>
            <a:ext cx="3474720" cy="2651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834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SINGH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3566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Physical Design  |  RTL-to-GDSII  |  EDA Tools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SINGH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286000" y="1261872"/>
            <a:ext cx="4572000" cy="45720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DFT + Physical Design 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System Top  |  AXI4-Lite + FIFO + 2×2 MAC Array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25880" y="3154680"/>
            <a:ext cx="192024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3B5B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3218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Nirma University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EIE + VLSI Minor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12164" y="321048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12164" y="353966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51276" y="3146474"/>
            <a:ext cx="192024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3B5B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6996" y="321048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96996" y="353966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gpdk090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36108" y="3146474"/>
            <a:ext cx="192024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3B5B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1828" y="321048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1828" y="353966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exoticallyvivek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58368"/>
            <a:ext cx="8631936" cy="365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94944"/>
            <a:ext cx="8631936" cy="18288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MAC Accelerator IP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23859" y="191109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built, why, and the full toolchain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18304"/>
            <a:ext cx="9144000" cy="1828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36592"/>
            <a:ext cx="9144000" cy="9144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SINGH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4882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828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0896" y="996696"/>
            <a:ext cx="4114800" cy="365760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60120"/>
            <a:ext cx="41148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014984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148132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Accelerator IP — sky130A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178308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slave interface — register-mapped CPU access</a:t>
            </a:r>
            <a:endParaRPr lang="en-US" sz="950" dirty="0"/>
          </a:p>
          <a:p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FIFO (16×32-bit) — operand buffering</a:t>
            </a:r>
            <a:endParaRPr lang="en-US" sz="950" dirty="0"/>
          </a:p>
          <a:p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MAC Array — 4 parallel multiply-accumulate units</a:t>
            </a:r>
            <a:endParaRPr lang="en-US" sz="950" dirty="0"/>
          </a:p>
          <a:p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pipelined MAC unit — Booth encoder + Wallace tree</a:t>
            </a:r>
            <a:endParaRPr lang="en-US" sz="950" dirty="0"/>
          </a:p>
          <a:p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register bank — stable results until CPU reads</a:t>
            </a:r>
            <a:endParaRPr lang="en-US" sz="950" dirty="0"/>
          </a:p>
          <a:p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FSM — orchestrates full data flow end-to-end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29184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566160"/>
            <a:ext cx="3895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complete RTL → DFT (ATPG + JTAG) → Physical Design (RTL-to-GDSII) flow using a 100% open-source EDA toolchain on an industrial-complexity design with AXI interface, FIFO, and pipelined MAC array on sky130A 130nm PDK.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58368"/>
            <a:ext cx="8631936" cy="365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94944"/>
            <a:ext cx="8631936" cy="18288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System Top — Architecture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diagram: CPU → AXI → FIFO → MAC Array → Output Regs → CPU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18304"/>
            <a:ext cx="9144000" cy="1828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36592"/>
            <a:ext cx="9144000" cy="9144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SINGH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4882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828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926080" y="987552"/>
            <a:ext cx="329184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02412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mac_system_top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" y="1536192"/>
            <a:ext cx="1170432" cy="8412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Master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353312" y="179222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1536192"/>
            <a:ext cx="1170432" cy="8412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53896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53896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5-ch protocol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map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606040" y="179222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16352" y="1536192"/>
            <a:ext cx="1170432" cy="841248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52928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52928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005072" y="179222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15384" y="1536192"/>
            <a:ext cx="1170432" cy="84124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51960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16×32-bit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A,B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04104" y="179222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14416" y="1536192"/>
            <a:ext cx="1170432" cy="84124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50992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MAC units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03136" y="179222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13448" y="1536192"/>
            <a:ext cx="1170432" cy="841248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0024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Bank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50024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results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AXI read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64592" y="2523744"/>
            <a:ext cx="8503920" cy="54864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596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AXI Read path: CPU reads results via RDATA register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0896" y="2944368"/>
            <a:ext cx="8577072" cy="157276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2907792"/>
            <a:ext cx="8577072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2962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" y="325526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writes operand A (16-bit) to AXI reg 0x00, operand B to 0x04, then asserts START at 0x08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36008" y="325526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slave latches A,B and pulses axi_mac_start; Control FSM packs {A,B} → 32-bit word into FIFO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84048" y="35844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pops FIFO (rd_data = {A[31:16], B[15:0]}), asserts mac_valid_in — triggers MAC computation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36008" y="35844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Array: selected MAC unit (via mac_sel[1:0]) runs 5-stage pipeline → product arrives at accumulator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84048" y="39136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Register Bank captures result_valid pulse → stores result → asserts done_flag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36008" y="39136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</a:t>
            </a: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polls status reg 0x1C (DONE=1), then reads results from 0x0C–0x18 via AXI read channel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58368"/>
            <a:ext cx="8631936" cy="365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94944"/>
            <a:ext cx="8631936" cy="18288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Detail — AXI4-Lite Slave &amp; Control FSM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Register-mapped interface + orchestration state machine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18304"/>
            <a:ext cx="9144000" cy="1828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36592"/>
            <a:ext cx="9144000" cy="9144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SINGH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4882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828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0896" y="996696"/>
            <a:ext cx="4114800" cy="3703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60120"/>
            <a:ext cx="41148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014984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Slave Interface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146304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Bridge CPU ↔ MAC System via memory-mapped registers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175564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2011680"/>
            <a:ext cx="3895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5-channel AXI4-Lite: AW (write addr), W (write data), B (write resp), AR (read addr), R (read data)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FSM: WR_IDLE → WR_DATA → WR_RESP — accepts AWADDR, latches data, sends OKAY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FSM: RD_IDLE → RD_DATA — multiplexes result registers onto RDATA bus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mac_start is a 1-cycle pulse generated on WDATA[0] write to 0x08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12724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364992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 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A (write)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361188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0x04 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B (write)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3858768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 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START|RST|SEL[1:0]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4105656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0x0C–0x18 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MAC0–MAC3 (read)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4352544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0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0x1C  </a:t>
            </a: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BUSY|DONE|FULL|EMPTY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08576" y="996696"/>
            <a:ext cx="4251960" cy="3703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960120"/>
            <a:ext cx="425196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960120"/>
            <a:ext cx="4251960" cy="411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014984"/>
            <a:ext cx="4032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FSM — 5 States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81728" y="1463040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Sequence FIFO push → pop → MAC trigger → done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1783080"/>
            <a:ext cx="749808" cy="40233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182880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04688" y="1810512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axi_mac_start; latch mac_sel from AXI control reg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01184" y="219456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81728" y="2295144"/>
            <a:ext cx="749808" cy="402336"/>
          </a:xfrm>
          <a:prstGeom prst="rect">
            <a:avLst/>
          </a:prstGeom>
          <a:solidFill>
            <a:srgbClr val="2E4DA0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34086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04688" y="2322576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pushed to FIFO combinatorially; wait for !fifo_empty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01184" y="270662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81728" y="2807208"/>
            <a:ext cx="749808" cy="402336"/>
          </a:xfrm>
          <a:prstGeom prst="rect">
            <a:avLst/>
          </a:prstGeom>
          <a:solidFill>
            <a:srgbClr val="2E4DA0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285292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04688" y="2834640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fifo_rd_en to pop; mac_valid_in → starts 5-stage MAC pipe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01184" y="32186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81728" y="3319272"/>
            <a:ext cx="749808" cy="402336"/>
          </a:xfrm>
          <a:prstGeom prst="rect">
            <a:avLst/>
          </a:prstGeom>
          <a:solidFill>
            <a:srgbClr val="2E4DA0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36499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04688" y="3346704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Deassert valid; check if more data in FIFO → loop or go DONE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01184" y="373075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81728" y="3831336"/>
            <a:ext cx="749808" cy="402336"/>
          </a:xfrm>
          <a:prstGeom prst="rect">
            <a:avLst/>
          </a:prstGeom>
          <a:solidFill>
            <a:srgbClr val="1B5E20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387705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04688" y="385876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busy_reg; assert done_reg; return to IDLE for next transaction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81728" y="4315968"/>
            <a:ext cx="4032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signal: orb_done (from output reg bank) → signals FSM operation complete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58368"/>
            <a:ext cx="8631936" cy="365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94944"/>
            <a:ext cx="8631936" cy="18288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Detail — Sync FIFO &amp; 2×2 MAC Array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 buffering and parallel multiply-accumulate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18304"/>
            <a:ext cx="9144000" cy="1828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36592"/>
            <a:ext cx="9144000" cy="9144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SINGH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4882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828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0896" y="996696"/>
            <a:ext cx="4114800" cy="3703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960120"/>
            <a:ext cx="41148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960120"/>
            <a:ext cx="4114800" cy="411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014984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FIFO  (16 × 32-bit)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146304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Buffer operand pairs from AXI writes; decouple CPU write speed from MAC pipeline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182880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2066544"/>
            <a:ext cx="3895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Depth=16, Width=32 — stores packed {A[15:0], B[15:0]} pairs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buffer: wr_ptr &amp; rd_ptr each 5-bit (extra bit for full/empty detect)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wr_ptr − rd_ptr → full when count==16, empty when count==0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almost_full (count==15) and almost_empty (count==1) status flags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08576" y="996696"/>
            <a:ext cx="4251960" cy="3703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960120"/>
            <a:ext cx="425196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960120"/>
            <a:ext cx="4251960" cy="411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014984"/>
            <a:ext cx="4032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MAC Array — 4 Parallel MAC Units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81728" y="1463040"/>
            <a:ext cx="4032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Parallel multiply-accumulate — selected MAC runs independently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81728" y="1755648"/>
            <a:ext cx="4032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81728" y="1993392"/>
            <a:ext cx="4032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MACs receive same A,B inputs from FIFO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mac_sel[1:0] decoder: 00=MAC0, 01=MAC1, 10=MAC2, 11=MAC3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selected MAC gets en=1 (valid_in); others idle</a:t>
            </a:r>
            <a:endParaRPr lang="en-US" sz="900" dirty="0"/>
          </a:p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MAC accumulates independently — useful for GEMM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2999232"/>
            <a:ext cx="1536192" cy="530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035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2999232"/>
            <a:ext cx="1536192" cy="53035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3035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(01)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657600"/>
            <a:ext cx="1536192" cy="530352"/>
          </a:xfrm>
          <a:prstGeom prst="rect">
            <a:avLst/>
          </a:prstGeom>
          <a:solidFill>
            <a:srgbClr val="2E4DA0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36941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37960" y="3657600"/>
            <a:ext cx="1536192" cy="530352"/>
          </a:xfrm>
          <a:prstGeom prst="rect">
            <a:avLst/>
          </a:prstGeom>
          <a:solidFill>
            <a:srgbClr val="2E4DA0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36941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81728" y="43525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A, B (from FIFO)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492240" y="4352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result_mac0..3 →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58368"/>
            <a:ext cx="8631936" cy="365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94944"/>
            <a:ext cx="8631936" cy="18288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Detail — 5-Stage Pipelined MAC Unit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encoding → Wallace tree → CPA → Accumulator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718304"/>
            <a:ext cx="9144000" cy="1828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36592"/>
            <a:ext cx="9144000" cy="9144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73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SINGH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4882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8280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" y="960120"/>
            <a:ext cx="1572768" cy="51206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Input Reg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" y="1609344"/>
            <a:ext cx="1572768" cy="13898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572768"/>
            <a:ext cx="15727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664208"/>
            <a:ext cx="142646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A,B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valid_in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65376" y="987552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0" y="960120"/>
            <a:ext cx="1572768" cy="512064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48256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Booth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48256" y="1609344"/>
            <a:ext cx="1572768" cy="13898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1572768"/>
            <a:ext cx="15727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4832" y="1664208"/>
            <a:ext cx="142646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partial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16×16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02736" y="987552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960120"/>
            <a:ext cx="1572768" cy="512064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Wallace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L1+L2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85616" y="1609344"/>
            <a:ext cx="1572768" cy="13898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1572768"/>
            <a:ext cx="15727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1664208"/>
            <a:ext cx="142646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3×CSA → 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2×CSA → 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40096" y="987552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960120"/>
            <a:ext cx="1572768" cy="51206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22976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Wallace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L3+CPA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22976" y="1609344"/>
            <a:ext cx="1572768" cy="13898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1572768"/>
            <a:ext cx="15727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1664208"/>
            <a:ext cx="142646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→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CPA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product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77456" y="987552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223760" y="960120"/>
            <a:ext cx="1572768" cy="5120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0336" y="100584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— Accum-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ulator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60336" y="1609344"/>
            <a:ext cx="1572768" cy="13898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1572768"/>
            <a:ext cx="157276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96912" y="1664208"/>
            <a:ext cx="142646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acc+=product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rst_acc clears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result_valid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0896" y="3127248"/>
            <a:ext cx="4114800" cy="13898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090672"/>
            <a:ext cx="41148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090672"/>
            <a:ext cx="4114800" cy="411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145536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Encoder (Stage 2)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048" y="3547872"/>
            <a:ext cx="3895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Sign-extended A: {{16{A[15]}}, A} — handles negative numbers</a:t>
            </a:r>
            <a:endParaRPr lang="en-US" sz="850" dirty="0"/>
          </a:p>
          <a:p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8 partial products pp0..pp7 by shifting A by B[i]</a:t>
            </a:r>
            <a:endParaRPr lang="en-US" sz="850" dirty="0"/>
          </a:p>
          <a:p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pp7 merges B[7..15] including 2's complement sign bit (B[15]: negate)</a:t>
            </a:r>
            <a:endParaRPr lang="en-US" sz="850" dirty="0"/>
          </a:p>
          <a:p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pp8=0 placeholder — 9 PPs total for Wallace tree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08576" y="3127248"/>
            <a:ext cx="4251960" cy="13898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3090672"/>
            <a:ext cx="42519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3090672"/>
            <a:ext cx="4251960" cy="4114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81728" y="3145536"/>
            <a:ext cx="40325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 Tree + Accumulator (S3–S5)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81728" y="3547872"/>
            <a:ext cx="4032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3×CSA_32 reduce 9 PPs to 6 values (sum+carry pairs)</a:t>
            </a:r>
            <a:endParaRPr lang="en-US" sz="850" dirty="0"/>
          </a:p>
          <a:p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2×CSA_32 reduce 6 to 4; carry shifted left 1 bit (weight align)</a:t>
            </a:r>
            <a:endParaRPr lang="en-US" sz="850" dirty="0"/>
          </a:p>
          <a:p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L3+CPA: final CSA + ripple adder → 32-bit product</a:t>
            </a:r>
            <a:endParaRPr lang="en-US" sz="850" dirty="0"/>
          </a:p>
          <a:p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Accumulator: acc = acc + product on valid; rst_acc clears for new op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04672"/>
            <a:ext cx="8631936" cy="3200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41248"/>
            <a:ext cx="8631936" cy="16459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1040" y="45720"/>
            <a:ext cx="658368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5669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</a:t>
            </a:r>
            <a:r>
              <a:rPr lang="en-US" sz="7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18304"/>
            <a:ext cx="9144000" cy="20117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36592"/>
            <a:ext cx="9144000" cy="10973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0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08960" y="1280160"/>
            <a:ext cx="29260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04672"/>
            <a:ext cx="8631936" cy="3200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41248"/>
            <a:ext cx="8631936" cy="16459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1040" y="45720"/>
            <a:ext cx="658368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5669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</a:t>
            </a:r>
            <a:r>
              <a:rPr lang="en-US" sz="75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18304"/>
            <a:ext cx="9144000" cy="20117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736592"/>
            <a:ext cx="9144000" cy="10973"/>
          </a:xfrm>
          <a:prstGeom prst="rect">
            <a:avLst/>
          </a:prstGeom>
          <a:solidFill>
            <a:srgbClr val="2E4DA0"/>
          </a:solidFill>
          <a:ln w="12700">
            <a:solidFill>
              <a:srgbClr val="2E4D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Rights Reserved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0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13" name="Text 10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4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vr.singh1612@gmail.com  |  +91-82389-14028  |  Nirma University, Ahmedabad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1245</Words>
  <Application>Microsoft Office PowerPoint</Application>
  <PresentationFormat>On-screen Show (16:9)</PresentationFormat>
  <Paragraphs>195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Vivek singh</cp:lastModifiedBy>
  <cp:revision>5</cp:revision>
  <dcterms:created xsi:type="dcterms:W3CDTF">2026-06-12T11:21:15Z</dcterms:created>
  <dcterms:modified xsi:type="dcterms:W3CDTF">2026-09-06T04:35:24Z</dcterms:modified>
</cp:coreProperties>
</file>